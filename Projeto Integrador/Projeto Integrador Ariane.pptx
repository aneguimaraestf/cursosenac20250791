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E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136F2-79CF-53E1-9126-64D6414A3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DD6DFC-7D4B-30E2-A32F-112807EF8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43D1EA-5341-3A54-14ED-55AB74BC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898C76-AD34-0A1D-EDAF-86B8F396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7D008E-E6F2-4496-3F73-7F8C2E54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31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32F21-FC99-B4FE-889D-64EBBE12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BD6B9B-56DA-E16A-9BB8-54971FA4E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93C44B-1112-387B-F0B5-CDB0C537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0BC5CC-951E-5538-F703-3BB00FE4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ED8270-8A03-6FAA-1A5D-7353F9DF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27DE0-8760-F2F2-1819-5B4154C1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03663F-F970-8CE6-EE89-E16EB90CF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849738-FB78-3480-F3C2-D80AB7DB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2FCD20-3C84-15A5-EB08-6F3B9885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11325-4EFB-5AB0-DDFF-5C0DA4F7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428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F54BB-FB16-ACDC-A81E-570B7D03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F046E3-2B75-E8C5-4108-BF725D084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AB6DC2-BF3B-F036-0B20-3B13F2749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1D7B60-D360-EF00-F845-AF461B57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B90DC1-556B-90E6-F71C-E4B0B46B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FA053F-FAF3-1C4B-4F97-2D95AC6B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11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5FC49-EBEB-E198-3AAB-6A480916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A0846F-413E-EC7D-27CC-D31317605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03AE67-AB3D-969B-E0D9-9ABF34DE0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588F63F-0C83-A1E0-EFC4-7ED3EEC62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23FEF7-5149-CC6E-83AF-7E8C0D96A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CC2B596-B41F-33EC-5F75-EE2311E8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8F56DA-4487-1446-E00A-86A0B807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DAD82D-6DEE-A151-B758-6C00C6EA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21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179EA-D19D-DB17-89F6-30EB5FD6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213EF2-412C-CC4B-5D35-A402DD718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F52ABA-212B-7954-D86B-6A2662E3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05BB66-B493-41C9-B438-E816B958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21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A8A695-7848-0BBB-AEEA-5DB65EE2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923E63-99FD-F405-B587-86346737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39AA7B-039D-CC00-CB6E-A5D6B58F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9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5BB300-9C9D-4D27-0C2D-BE61B9EC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A262A7-41C0-1A83-E454-FAF4F5B4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615034-7753-8819-38DF-034FB645F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21888D-64A3-D151-EE79-39428BFA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73578D-2180-63C7-1BF3-1EED2CF3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D41A05-90EC-3432-74D1-4A3F93C2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63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732B1-1AB8-3AB2-4811-41F647C9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7A925E-1A07-A6DB-E8F5-2F56B8FB3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EE19BC-302F-0850-B874-2135B0BD6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F56797-92F2-8F15-27E1-A9E817FD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3F95D4-6DAF-600A-620D-5EF66C08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E7A02E-41FB-3E6A-5C01-F538782D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68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29D65-9389-774B-1091-8ED2B909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5501BF-477F-F0A1-BF29-B324AACCA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3D46BA-EF1B-1299-5112-CD419E11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5F76FE-137A-EE46-1686-70D21FB9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6A1B7-E8E8-35B0-6B77-56ADA5D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856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9918C8-766B-64F4-0EF8-9C2BCC754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69D322-CFCE-5290-76A9-D2DEE7727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101C5E-533A-3FFA-0D24-1AA4D9E3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A017BF-F1BC-E32B-80F8-674CF4CC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0C1F58-1A20-89C7-1ECA-045DE757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5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30B259-0F9F-E5FF-AAA0-A992211A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A880D0-AADA-4BB1-2E9D-A96C8E08A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04AB4-8090-15AA-682D-52523D2E0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1D610-E6B3-423C-BE46-6B9E5095FAE0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08BBA9-54BA-0F26-DF57-70D5AD69C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B5B2C5-7438-D43D-598B-CECCAEFA9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71B75-DF45-41F1-9025-F4F02F3089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26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1A5F3FA-BE32-BAAB-0936-D33E638C3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70" y="1703070"/>
            <a:ext cx="3451860" cy="345186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4C25A8B-5AE8-2E7B-EBBD-32897C09C8CA}"/>
              </a:ext>
            </a:extLst>
          </p:cNvPr>
          <p:cNvSpPr txBox="1"/>
          <p:nvPr/>
        </p:nvSpPr>
        <p:spPr>
          <a:xfrm>
            <a:off x="160020" y="5265896"/>
            <a:ext cx="11871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Ariane Guimarães Torres Freitas</a:t>
            </a:r>
          </a:p>
          <a:p>
            <a:pPr algn="ctr"/>
            <a:r>
              <a:rPr lang="pt-BR" sz="2400" b="1" dirty="0"/>
              <a:t>2025.07.91 Curso de Analista de Dados</a:t>
            </a:r>
          </a:p>
          <a:p>
            <a:pPr algn="ctr"/>
            <a:r>
              <a:rPr lang="pt-BR" sz="2400" b="1" dirty="0"/>
              <a:t>SENAC - 06/04/2026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3EEDE5-7FBD-1550-2ACE-CB2AA99842EE}"/>
              </a:ext>
            </a:extLst>
          </p:cNvPr>
          <p:cNvSpPr/>
          <p:nvPr/>
        </p:nvSpPr>
        <p:spPr>
          <a:xfrm>
            <a:off x="160020" y="391775"/>
            <a:ext cx="1187196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9525">
                  <a:solidFill>
                    <a:srgbClr val="75E4F5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ACOMPANHAMENTO DE TURMAS, MATRÍCULAS E EVASÕES</a:t>
            </a:r>
          </a:p>
        </p:txBody>
      </p:sp>
    </p:spTree>
    <p:extLst>
      <p:ext uri="{BB962C8B-B14F-4D97-AF65-F5344CB8AC3E}">
        <p14:creationId xmlns:p14="http://schemas.microsoft.com/office/powerpoint/2010/main" val="333219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DA9005-F0F5-B898-D2BC-1878FC19968A}"/>
              </a:ext>
            </a:extLst>
          </p:cNvPr>
          <p:cNvSpPr txBox="1"/>
          <p:nvPr/>
        </p:nvSpPr>
        <p:spPr>
          <a:xfrm>
            <a:off x="1100736" y="2508105"/>
            <a:ext cx="470934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 </a:t>
            </a:r>
            <a:r>
              <a:rPr lang="en-US" sz="1700" dirty="0" err="1"/>
              <a:t>setor</a:t>
            </a:r>
            <a:r>
              <a:rPr lang="en-US" sz="1700" dirty="0"/>
              <a:t> de </a:t>
            </a:r>
            <a:r>
              <a:rPr lang="en-US" sz="1700" dirty="0" err="1"/>
              <a:t>educação</a:t>
            </a:r>
            <a:r>
              <a:rPr lang="en-US" sz="1700" dirty="0"/>
              <a:t> </a:t>
            </a:r>
            <a:r>
              <a:rPr lang="en-US" sz="1700" dirty="0" err="1"/>
              <a:t>profissional</a:t>
            </a:r>
            <a:r>
              <a:rPr lang="en-US" sz="1700" dirty="0"/>
              <a:t> </a:t>
            </a:r>
            <a:r>
              <a:rPr lang="en-US" sz="1700" dirty="0" err="1"/>
              <a:t>tem</a:t>
            </a:r>
            <a:r>
              <a:rPr lang="en-US" sz="1700" dirty="0"/>
              <a:t> </a:t>
            </a:r>
            <a:r>
              <a:rPr lang="en-US" sz="1700" dirty="0" err="1"/>
              <a:t>crescido</a:t>
            </a:r>
            <a:r>
              <a:rPr lang="en-US" sz="1700" dirty="0"/>
              <a:t> </a:t>
            </a:r>
            <a:r>
              <a:rPr lang="en-US" sz="1700" dirty="0" err="1"/>
              <a:t>significativamente</a:t>
            </a:r>
            <a:r>
              <a:rPr lang="en-US" sz="1700" dirty="0"/>
              <a:t>, </a:t>
            </a:r>
            <a:r>
              <a:rPr lang="en-US" sz="1700" dirty="0" err="1"/>
              <a:t>especialmente</a:t>
            </a:r>
            <a:r>
              <a:rPr lang="en-US" sz="1700" dirty="0"/>
              <a:t> </a:t>
            </a:r>
            <a:r>
              <a:rPr lang="en-US" sz="1700" dirty="0" err="1"/>
              <a:t>na</a:t>
            </a:r>
            <a:r>
              <a:rPr lang="en-US" sz="1700" dirty="0"/>
              <a:t> </a:t>
            </a:r>
            <a:r>
              <a:rPr lang="en-US" sz="1700" dirty="0" err="1"/>
              <a:t>área</a:t>
            </a:r>
            <a:r>
              <a:rPr lang="en-US" sz="1700" dirty="0"/>
              <a:t> de </a:t>
            </a:r>
            <a:r>
              <a:rPr lang="en-US" sz="1700" dirty="0" err="1"/>
              <a:t>tecnologia</a:t>
            </a:r>
            <a:r>
              <a:rPr lang="en-US" sz="17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Problema</a:t>
            </a:r>
            <a:r>
              <a:rPr lang="en-US" sz="1700" dirty="0"/>
              <a:t>: </a:t>
            </a:r>
            <a:r>
              <a:rPr lang="en-US" sz="1700" dirty="0" err="1"/>
              <a:t>Tentar</a:t>
            </a:r>
            <a:r>
              <a:rPr lang="en-US" sz="1700" dirty="0"/>
              <a:t> </a:t>
            </a:r>
            <a:r>
              <a:rPr lang="en-US" sz="1700" dirty="0" err="1"/>
              <a:t>entender</a:t>
            </a:r>
            <a:r>
              <a:rPr lang="en-US" sz="1700" dirty="0"/>
              <a:t> o </a:t>
            </a:r>
            <a:r>
              <a:rPr lang="en-US" sz="1700" dirty="0" err="1"/>
              <a:t>comportamento</a:t>
            </a:r>
            <a:r>
              <a:rPr lang="en-US" sz="1700" dirty="0"/>
              <a:t> dos </a:t>
            </a:r>
            <a:r>
              <a:rPr lang="en-US" sz="1700" dirty="0" err="1"/>
              <a:t>alunos</a:t>
            </a:r>
            <a:r>
              <a:rPr lang="en-US" sz="1700" dirty="0"/>
              <a:t> (</a:t>
            </a:r>
            <a:r>
              <a:rPr lang="en-US" sz="1700" dirty="0" err="1"/>
              <a:t>aprovação</a:t>
            </a:r>
            <a:r>
              <a:rPr lang="en-US" sz="1700" dirty="0"/>
              <a:t>, </a:t>
            </a:r>
            <a:r>
              <a:rPr lang="en-US" sz="1700" dirty="0" err="1"/>
              <a:t>reprovação</a:t>
            </a:r>
            <a:r>
              <a:rPr lang="en-US" sz="1700" dirty="0"/>
              <a:t>, </a:t>
            </a:r>
            <a:r>
              <a:rPr lang="en-US" sz="1700" dirty="0" err="1"/>
              <a:t>cancelamento</a:t>
            </a:r>
            <a:r>
              <a:rPr lang="en-US" sz="1700" dirty="0"/>
              <a:t>) e </a:t>
            </a:r>
            <a:r>
              <a:rPr lang="en-US" sz="1700" dirty="0" err="1"/>
              <a:t>otimizar</a:t>
            </a:r>
            <a:r>
              <a:rPr lang="en-US" sz="1700" dirty="0"/>
              <a:t> a </a:t>
            </a:r>
            <a:r>
              <a:rPr lang="en-US" sz="1700" dirty="0" err="1"/>
              <a:t>gestão</a:t>
            </a:r>
            <a:r>
              <a:rPr lang="en-US" sz="1700" dirty="0"/>
              <a:t> das </a:t>
            </a:r>
            <a:r>
              <a:rPr lang="en-US" sz="1700" dirty="0" err="1"/>
              <a:t>turmas</a:t>
            </a:r>
            <a:r>
              <a:rPr lang="en-US" sz="1700" dirty="0"/>
              <a:t> e </a:t>
            </a:r>
            <a:r>
              <a:rPr lang="en-US" sz="1700" dirty="0" err="1"/>
              <a:t>maximizar</a:t>
            </a:r>
            <a:r>
              <a:rPr lang="en-US" sz="1700" dirty="0"/>
              <a:t> a </a:t>
            </a:r>
            <a:r>
              <a:rPr lang="en-US" sz="1700" dirty="0" err="1"/>
              <a:t>ocupação</a:t>
            </a:r>
            <a:r>
              <a:rPr lang="en-US" sz="1700" dirty="0"/>
              <a:t> </a:t>
            </a:r>
            <a:r>
              <a:rPr lang="en-US" sz="1700" dirty="0" err="1"/>
              <a:t>em</a:t>
            </a:r>
            <a:r>
              <a:rPr lang="en-US" sz="1700" dirty="0"/>
              <a:t> sala de aula.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Relevância</a:t>
            </a:r>
            <a:r>
              <a:rPr lang="en-US" sz="1700" dirty="0"/>
              <a:t>: </a:t>
            </a:r>
            <a:r>
              <a:rPr lang="en-US" sz="1700" dirty="0" err="1"/>
              <a:t>Melhorar</a:t>
            </a:r>
            <a:r>
              <a:rPr lang="en-US" sz="1700" dirty="0"/>
              <a:t> a </a:t>
            </a:r>
            <a:r>
              <a:rPr lang="en-US" sz="1700" dirty="0" err="1"/>
              <a:t>tomada</a:t>
            </a:r>
            <a:r>
              <a:rPr lang="en-US" sz="1700" dirty="0"/>
              <a:t> de </a:t>
            </a:r>
            <a:r>
              <a:rPr lang="en-US" sz="1700" dirty="0" err="1"/>
              <a:t>decisão</a:t>
            </a:r>
            <a:r>
              <a:rPr lang="en-US" sz="1700" dirty="0"/>
              <a:t>, </a:t>
            </a:r>
            <a:r>
              <a:rPr lang="en-US" sz="1700" dirty="0" err="1"/>
              <a:t>reduzir</a:t>
            </a:r>
            <a:r>
              <a:rPr lang="en-US" sz="1700" dirty="0"/>
              <a:t> </a:t>
            </a:r>
            <a:r>
              <a:rPr lang="en-US" sz="1700" dirty="0" err="1"/>
              <a:t>evasão</a:t>
            </a:r>
            <a:r>
              <a:rPr lang="en-US" sz="1700" dirty="0"/>
              <a:t> e </a:t>
            </a:r>
            <a:r>
              <a:rPr lang="en-US" sz="1700" dirty="0" err="1"/>
              <a:t>aumentar</a:t>
            </a:r>
            <a:r>
              <a:rPr lang="en-US" sz="1700" dirty="0"/>
              <a:t> o </a:t>
            </a:r>
            <a:r>
              <a:rPr lang="en-US" sz="1700" dirty="0" err="1"/>
              <a:t>sucesso</a:t>
            </a:r>
            <a:r>
              <a:rPr lang="en-US" sz="1700" dirty="0"/>
              <a:t> dos </a:t>
            </a:r>
            <a:r>
              <a:rPr lang="en-US" sz="1700" dirty="0" err="1"/>
              <a:t>alunos</a:t>
            </a:r>
            <a:r>
              <a:rPr lang="en-US" sz="1700" dirty="0"/>
              <a:t>.</a:t>
            </a:r>
          </a:p>
        </p:txBody>
      </p:sp>
      <p:pic>
        <p:nvPicPr>
          <p:cNvPr id="5" name="Picture 2" descr="Sala de aula - ícones de pessoas grátis">
            <a:extLst>
              <a:ext uri="{FF2B5EF4-FFF2-40B4-BE49-F238E27FC236}">
                <a16:creationId xmlns:a16="http://schemas.microsoft.com/office/drawing/2014/main" id="{68FBB275-6162-0376-1368-71B7CFFD9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493"/>
          <a:stretch>
            <a:fillRect/>
          </a:stretch>
        </p:blipFill>
        <p:spPr bwMode="auto">
          <a:xfrm>
            <a:off x="6662997" y="308565"/>
            <a:ext cx="4929098" cy="475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FEC3109-F325-2555-A061-DA9960ED1A5C}"/>
              </a:ext>
            </a:extLst>
          </p:cNvPr>
          <p:cNvSpPr txBox="1"/>
          <p:nvPr/>
        </p:nvSpPr>
        <p:spPr>
          <a:xfrm>
            <a:off x="6804498" y="5365027"/>
            <a:ext cx="4807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i="1" dirty="0">
                <a:solidFill>
                  <a:schemeClr val="bg1">
                    <a:lumMod val="65000"/>
                  </a:schemeClr>
                </a:solidFill>
              </a:rPr>
              <a:t>“A evasão em cursos profissionalizantes pode ultrapassar 30%, comprometendo o investimento em educação e o desenvolvimento de talentos.”</a:t>
            </a:r>
          </a:p>
        </p:txBody>
      </p:sp>
    </p:spTree>
    <p:extLst>
      <p:ext uri="{BB962C8B-B14F-4D97-AF65-F5344CB8AC3E}">
        <p14:creationId xmlns:p14="http://schemas.microsoft.com/office/powerpoint/2010/main" val="30211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3" name="Rectangle 2092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2" name="Picture 4" descr="Análise de dados - ícones de o negócio grátis">
            <a:extLst>
              <a:ext uri="{FF2B5EF4-FFF2-40B4-BE49-F238E27FC236}">
                <a16:creationId xmlns:a16="http://schemas.microsoft.com/office/drawing/2014/main" id="{70F1C206-B745-5DDB-CD0C-1CE6BAB14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199" y="652458"/>
            <a:ext cx="5440195" cy="5440195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5" name="Arc 2094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AEC784-0807-4DC1-0DC8-9C8F751225C9}"/>
              </a:ext>
            </a:extLst>
          </p:cNvPr>
          <p:cNvSpPr txBox="1"/>
          <p:nvPr/>
        </p:nvSpPr>
        <p:spPr>
          <a:xfrm>
            <a:off x="6769570" y="1234546"/>
            <a:ext cx="4771178" cy="43889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Fonte dos dados: </a:t>
            </a:r>
            <a:r>
              <a:rPr lang="en-US" dirty="0"/>
              <a:t>Base </a:t>
            </a:r>
            <a:r>
              <a:rPr lang="en-US" dirty="0" err="1"/>
              <a:t>gerada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de </a:t>
            </a:r>
            <a:r>
              <a:rPr lang="en-US" dirty="0" err="1"/>
              <a:t>código</a:t>
            </a:r>
            <a:r>
              <a:rPr lang="en-US" dirty="0"/>
              <a:t> (Python) </a:t>
            </a:r>
            <a:r>
              <a:rPr lang="en-US" dirty="0" err="1"/>
              <a:t>obtido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ChatGPT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simula</a:t>
            </a:r>
            <a:r>
              <a:rPr lang="en-US" dirty="0"/>
              <a:t> </a:t>
            </a:r>
            <a:r>
              <a:rPr lang="en-US" dirty="0" err="1"/>
              <a:t>turmas</a:t>
            </a:r>
            <a:r>
              <a:rPr lang="en-US" dirty="0"/>
              <a:t> e </a:t>
            </a:r>
            <a:r>
              <a:rPr lang="en-US" dirty="0" err="1"/>
              <a:t>alunos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 err="1"/>
              <a:t>Descrição</a:t>
            </a:r>
            <a:r>
              <a:rPr lang="en-US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Período</a:t>
            </a:r>
            <a:r>
              <a:rPr lang="en-US" dirty="0"/>
              <a:t>: 2022 à 2025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São </a:t>
            </a:r>
            <a:r>
              <a:rPr lang="en-US" dirty="0" err="1"/>
              <a:t>mais</a:t>
            </a:r>
            <a:r>
              <a:rPr lang="en-US" dirty="0"/>
              <a:t> de 2mil </a:t>
            </a:r>
            <a:r>
              <a:rPr lang="en-US" dirty="0" err="1"/>
              <a:t>registros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alunos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Informações</a:t>
            </a:r>
            <a:r>
              <a:rPr lang="en-US" dirty="0"/>
              <a:t> de </a:t>
            </a:r>
            <a:r>
              <a:rPr lang="en-US" dirty="0" err="1"/>
              <a:t>turmas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Status (</a:t>
            </a:r>
            <a:r>
              <a:rPr lang="en-US" dirty="0" err="1"/>
              <a:t>Aprovado</a:t>
            </a:r>
            <a:r>
              <a:rPr lang="en-US" dirty="0"/>
              <a:t>, </a:t>
            </a:r>
            <a:r>
              <a:rPr lang="en-US" dirty="0" err="1"/>
              <a:t>Reprovado</a:t>
            </a:r>
            <a:r>
              <a:rPr lang="en-US" dirty="0"/>
              <a:t>, </a:t>
            </a:r>
            <a:r>
              <a:rPr lang="en-US" dirty="0" err="1"/>
              <a:t>Cancelado,Etc</a:t>
            </a:r>
            <a:r>
              <a:rPr lang="en-US" dirty="0"/>
              <a:t>.)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 err="1"/>
              <a:t>Ética</a:t>
            </a:r>
            <a:r>
              <a:rPr lang="en-US" b="1" dirty="0"/>
              <a:t> e LGPD: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Dados </a:t>
            </a:r>
            <a:r>
              <a:rPr lang="en-US" dirty="0" err="1"/>
              <a:t>anonimizados</a:t>
            </a:r>
            <a:r>
              <a:rPr lang="en-US" dirty="0"/>
              <a:t>, </a:t>
            </a:r>
            <a:r>
              <a:rPr lang="en-US" dirty="0" err="1"/>
              <a:t>gerados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IA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Nenhuma</a:t>
            </a:r>
            <a:r>
              <a:rPr lang="en-US" dirty="0"/>
              <a:t> </a:t>
            </a:r>
            <a:r>
              <a:rPr lang="en-US" dirty="0" err="1"/>
              <a:t>informação</a:t>
            </a:r>
            <a:r>
              <a:rPr lang="en-US" dirty="0"/>
              <a:t> </a:t>
            </a:r>
            <a:r>
              <a:rPr lang="en-US" dirty="0" err="1"/>
              <a:t>sensível</a:t>
            </a:r>
            <a:r>
              <a:rPr lang="en-US" dirty="0"/>
              <a:t> </a:t>
            </a:r>
            <a:r>
              <a:rPr lang="en-US" dirty="0" err="1"/>
              <a:t>exposta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5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10" name="Rectangle 309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11" name="Group 309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97" name="Rectangle 309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8" name="Rectangle 309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639228-736C-2211-371F-575464A6ACF3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Qual o </a:t>
            </a:r>
            <a:r>
              <a:rPr lang="en-US" sz="2000" dirty="0" err="1"/>
              <a:t>perfil</a:t>
            </a:r>
            <a:r>
              <a:rPr lang="en-US" sz="2000" dirty="0"/>
              <a:t> dos </a:t>
            </a:r>
            <a:r>
              <a:rPr lang="en-US" sz="2000" dirty="0" err="1"/>
              <a:t>alunos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cancelam</a:t>
            </a:r>
            <a:r>
              <a:rPr lang="en-US" sz="2000" dirty="0"/>
              <a:t>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Qual a taxa de </a:t>
            </a:r>
            <a:r>
              <a:rPr lang="en-US" sz="2000" dirty="0" err="1"/>
              <a:t>aprovação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turma</a:t>
            </a:r>
            <a:r>
              <a:rPr lang="en-US" sz="2000" dirty="0"/>
              <a:t>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Existe</a:t>
            </a:r>
            <a:r>
              <a:rPr lang="en-US" sz="2000" dirty="0"/>
              <a:t> </a:t>
            </a:r>
            <a:r>
              <a:rPr lang="en-US" sz="2000" dirty="0" err="1"/>
              <a:t>diferença</a:t>
            </a:r>
            <a:r>
              <a:rPr lang="en-US" sz="2000" dirty="0"/>
              <a:t> de </a:t>
            </a:r>
            <a:r>
              <a:rPr lang="en-US" sz="2000" dirty="0" err="1"/>
              <a:t>desempenho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sexo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faixa</a:t>
            </a:r>
            <a:r>
              <a:rPr lang="en-US" sz="2000" dirty="0"/>
              <a:t> </a:t>
            </a:r>
            <a:r>
              <a:rPr lang="en-US" sz="2000" dirty="0" err="1"/>
              <a:t>etária</a:t>
            </a:r>
            <a:r>
              <a:rPr lang="en-US" sz="2000" dirty="0"/>
              <a:t>?</a:t>
            </a:r>
          </a:p>
        </p:txBody>
      </p: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Empresário com dúvidas - ícones de pessoas grátis">
            <a:extLst>
              <a:ext uri="{FF2B5EF4-FFF2-40B4-BE49-F238E27FC236}">
                <a16:creationId xmlns:a16="http://schemas.microsoft.com/office/drawing/2014/main" id="{85BC4982-EC70-3D1C-403D-6C903EBE7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3066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92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3F0B2C-A60C-ADBA-DAFD-1A00B0051809}"/>
              </a:ext>
            </a:extLst>
          </p:cNvPr>
          <p:cNvSpPr txBox="1"/>
          <p:nvPr/>
        </p:nvSpPr>
        <p:spPr>
          <a:xfrm>
            <a:off x="793661" y="2599509"/>
            <a:ext cx="10385616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Ferramentas </a:t>
            </a:r>
            <a:r>
              <a:rPr lang="en-US" sz="2000" b="1" dirty="0" err="1"/>
              <a:t>utilizadas</a:t>
            </a:r>
            <a:r>
              <a:rPr lang="en-US" sz="2000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Power BI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Excel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Python (</a:t>
            </a:r>
            <a:r>
              <a:rPr lang="en-US" sz="2000" dirty="0" err="1"/>
              <a:t>quando</a:t>
            </a:r>
            <a:r>
              <a:rPr lang="en-US" sz="2000" dirty="0"/>
              <a:t> </a:t>
            </a:r>
            <a:r>
              <a:rPr lang="en-US" sz="2000" dirty="0" err="1"/>
              <a:t>aplicável</a:t>
            </a:r>
            <a:r>
              <a:rPr lang="en-US" sz="20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Etapas</a:t>
            </a:r>
            <a:r>
              <a:rPr lang="en-US" sz="2000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Limpeza</a:t>
            </a:r>
            <a:r>
              <a:rPr lang="en-US" sz="2000" dirty="0"/>
              <a:t> dos dados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Tratamento</a:t>
            </a:r>
            <a:r>
              <a:rPr lang="en-US" sz="2000" dirty="0"/>
              <a:t> de </a:t>
            </a:r>
            <a:r>
              <a:rPr lang="en-US" sz="2000" dirty="0" err="1"/>
              <a:t>inconsistências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Criação</a:t>
            </a:r>
            <a:r>
              <a:rPr lang="en-US" sz="2000" dirty="0"/>
              <a:t> de </a:t>
            </a:r>
            <a:r>
              <a:rPr lang="en-US" sz="2000" dirty="0" err="1"/>
              <a:t>novas</a:t>
            </a:r>
            <a:r>
              <a:rPr lang="en-US" sz="2000" dirty="0"/>
              <a:t> </a:t>
            </a:r>
            <a:r>
              <a:rPr lang="en-US" sz="2000" dirty="0" err="1"/>
              <a:t>colunas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Modelagem</a:t>
            </a:r>
            <a:r>
              <a:rPr lang="en-US" sz="2000" dirty="0"/>
              <a:t> dos dados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https://github.com/aneguimaraestf/CursoSenac20250791/tree/main/Projeto%20Integrador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28D870E-7A02-FFCF-05C6-E548764F2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2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2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05ECCE-FD86-4AEF-45C5-5260740452A9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/>
              <a:t>maioria</a:t>
            </a:r>
            <a:r>
              <a:rPr lang="en-US" dirty="0"/>
              <a:t> das </a:t>
            </a:r>
            <a:r>
              <a:rPr lang="en-US" dirty="0" err="1"/>
              <a:t>turmas</a:t>
            </a:r>
            <a:r>
              <a:rPr lang="en-US" dirty="0"/>
              <a:t> </a:t>
            </a:r>
            <a:r>
              <a:rPr lang="en-US" dirty="0" err="1"/>
              <a:t>ocorre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fins de </a:t>
            </a:r>
            <a:r>
              <a:rPr lang="en-US" dirty="0" err="1"/>
              <a:t>semana</a:t>
            </a:r>
            <a:r>
              <a:rPr lang="en-US" dirty="0"/>
              <a:t> (61%)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Modalidade</a:t>
            </a:r>
            <a:r>
              <a:rPr lang="en-US" dirty="0"/>
              <a:t> </a:t>
            </a:r>
            <a:r>
              <a:rPr lang="en-US" dirty="0" err="1"/>
              <a:t>presencial</a:t>
            </a:r>
            <a:r>
              <a:rPr lang="en-US" dirty="0"/>
              <a:t> </a:t>
            </a:r>
            <a:r>
              <a:rPr lang="en-US" dirty="0" err="1"/>
              <a:t>predomina</a:t>
            </a:r>
            <a:r>
              <a:rPr lang="en-US" dirty="0"/>
              <a:t> (65%)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Turno</a:t>
            </a:r>
            <a:r>
              <a:rPr lang="en-US" dirty="0"/>
              <a:t> </a:t>
            </a:r>
            <a:r>
              <a:rPr lang="en-US" dirty="0" err="1"/>
              <a:t>manhã</a:t>
            </a:r>
            <a:r>
              <a:rPr lang="en-US" dirty="0"/>
              <a:t> </a:t>
            </a:r>
            <a:r>
              <a:rPr lang="en-US" dirty="0" err="1"/>
              <a:t>concentra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turmas</a:t>
            </a:r>
            <a:r>
              <a:rPr lang="en-US" dirty="0"/>
              <a:t> (39%)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Grande </a:t>
            </a:r>
            <a:r>
              <a:rPr lang="en-US" dirty="0" err="1"/>
              <a:t>parte</a:t>
            </a:r>
            <a:r>
              <a:rPr lang="en-US" dirty="0"/>
              <a:t> dos </a:t>
            </a:r>
            <a:r>
              <a:rPr lang="en-US" dirty="0" err="1"/>
              <a:t>alunos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pessoas</a:t>
            </a:r>
            <a:r>
              <a:rPr lang="en-US" dirty="0"/>
              <a:t> com </a:t>
            </a:r>
            <a:r>
              <a:rPr lang="en-US" dirty="0" err="1"/>
              <a:t>idades</a:t>
            </a:r>
            <a:r>
              <a:rPr lang="en-US" dirty="0"/>
              <a:t> entre 39 e 60 </a:t>
            </a:r>
            <a:r>
              <a:rPr lang="en-US" dirty="0" err="1"/>
              <a:t>anos</a:t>
            </a:r>
            <a:r>
              <a:rPr lang="en-US" dirty="0"/>
              <a:t> (47%)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Maior </a:t>
            </a:r>
            <a:r>
              <a:rPr lang="en-US" dirty="0" err="1"/>
              <a:t>parte</a:t>
            </a:r>
            <a:r>
              <a:rPr lang="en-US" dirty="0"/>
              <a:t> dos </a:t>
            </a:r>
            <a:r>
              <a:rPr lang="en-US" dirty="0" err="1"/>
              <a:t>alunos</a:t>
            </a:r>
            <a:r>
              <a:rPr lang="en-US" dirty="0"/>
              <a:t>,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pessoas</a:t>
            </a:r>
            <a:r>
              <a:rPr lang="en-US" dirty="0"/>
              <a:t> do </a:t>
            </a:r>
            <a:r>
              <a:rPr lang="en-US" dirty="0" err="1"/>
              <a:t>sexo</a:t>
            </a:r>
            <a:r>
              <a:rPr lang="en-US" dirty="0"/>
              <a:t> </a:t>
            </a:r>
            <a:r>
              <a:rPr lang="en-US" dirty="0" err="1"/>
              <a:t>masculino</a:t>
            </a:r>
            <a:r>
              <a:rPr lang="en-US" dirty="0"/>
              <a:t> (52%)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2024 </a:t>
            </a:r>
            <a:r>
              <a:rPr lang="en-US" dirty="0" err="1"/>
              <a:t>foi</a:t>
            </a:r>
            <a:r>
              <a:rPr lang="en-US" dirty="0"/>
              <a:t> o </a:t>
            </a:r>
            <a:r>
              <a:rPr lang="en-US" dirty="0" err="1"/>
              <a:t>ano</a:t>
            </a:r>
            <a:r>
              <a:rPr lang="en-US" dirty="0"/>
              <a:t> com </a:t>
            </a:r>
            <a:r>
              <a:rPr lang="en-US" dirty="0" err="1"/>
              <a:t>maior</a:t>
            </a:r>
            <a:r>
              <a:rPr lang="en-US" dirty="0"/>
              <a:t> % de </a:t>
            </a:r>
            <a:r>
              <a:rPr lang="en-US" dirty="0" err="1"/>
              <a:t>evasões</a:t>
            </a:r>
            <a:r>
              <a:rPr lang="en-US" dirty="0"/>
              <a:t> (9,3%)</a:t>
            </a: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E2C028B-DABE-F873-E99C-5B8560DB8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624160"/>
            <a:ext cx="5628018" cy="337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1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134834-9E9C-B168-AD44-1CA7357FBF5C}"/>
              </a:ext>
            </a:extLst>
          </p:cNvPr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 err="1"/>
              <a:t>Principais</a:t>
            </a:r>
            <a:r>
              <a:rPr lang="en-US" b="1" dirty="0"/>
              <a:t> insights: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Alta taxa de </a:t>
            </a:r>
            <a:r>
              <a:rPr lang="en-US" dirty="0" err="1"/>
              <a:t>cancelamento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determinadas</a:t>
            </a:r>
            <a:r>
              <a:rPr lang="en-US" dirty="0"/>
              <a:t> </a:t>
            </a:r>
            <a:r>
              <a:rPr lang="en-US" dirty="0" err="1"/>
              <a:t>turmas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Diferença</a:t>
            </a:r>
            <a:r>
              <a:rPr lang="en-US" dirty="0"/>
              <a:t> de </a:t>
            </a:r>
            <a:r>
              <a:rPr lang="en-US" dirty="0" err="1"/>
              <a:t>desempenho</a:t>
            </a:r>
            <a:r>
              <a:rPr lang="en-US" dirty="0"/>
              <a:t> entre </a:t>
            </a:r>
            <a:r>
              <a:rPr lang="en-US" dirty="0" err="1"/>
              <a:t>perfis</a:t>
            </a:r>
            <a:r>
              <a:rPr lang="en-US" dirty="0"/>
              <a:t> de </a:t>
            </a:r>
            <a:r>
              <a:rPr lang="en-US" dirty="0" err="1"/>
              <a:t>alunos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 err="1"/>
              <a:t>Trecho</a:t>
            </a:r>
            <a:r>
              <a:rPr lang="en-US" b="1" dirty="0"/>
              <a:t> do </a:t>
            </a:r>
            <a:r>
              <a:rPr lang="en-US" b="1" dirty="0" err="1"/>
              <a:t>código</a:t>
            </a:r>
            <a:r>
              <a:rPr lang="en-US" b="1" dirty="0"/>
              <a:t> </a:t>
            </a:r>
            <a:r>
              <a:rPr lang="en-US" b="1" dirty="0" err="1"/>
              <a:t>usado</a:t>
            </a:r>
            <a:r>
              <a:rPr lang="en-US" b="1" dirty="0"/>
              <a:t> para </a:t>
            </a:r>
            <a:r>
              <a:rPr lang="en-US" b="1" dirty="0" err="1"/>
              <a:t>gerar</a:t>
            </a:r>
            <a:r>
              <a:rPr lang="en-US" b="1" dirty="0"/>
              <a:t> a base: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1A229DF-61DC-0AC3-3E2F-998D71D62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3" y="1125853"/>
            <a:ext cx="4223252" cy="466657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283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08489E-7D97-B38C-7A0A-8FA826B4B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00" y="955437"/>
            <a:ext cx="4530963" cy="453096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3723B75-493D-10B0-FF0E-94FEC96ABB09}"/>
              </a:ext>
            </a:extLst>
          </p:cNvPr>
          <p:cNvSpPr txBox="1"/>
          <p:nvPr/>
        </p:nvSpPr>
        <p:spPr>
          <a:xfrm>
            <a:off x="5838406" y="1512171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Desafios</a:t>
            </a:r>
            <a:r>
              <a:rPr lang="en-US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Dados </a:t>
            </a:r>
            <a:r>
              <a:rPr lang="en-US" dirty="0" err="1"/>
              <a:t>inconsistentes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Registros</a:t>
            </a:r>
            <a:r>
              <a:rPr lang="en-US" dirty="0"/>
              <a:t> </a:t>
            </a:r>
            <a:r>
              <a:rPr lang="en-US" dirty="0" err="1"/>
              <a:t>duplicados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Soluções</a:t>
            </a:r>
            <a:r>
              <a:rPr lang="en-US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Padronização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Correção</a:t>
            </a:r>
            <a:r>
              <a:rPr lang="en-US" dirty="0"/>
              <a:t> manual e </a:t>
            </a:r>
            <a:r>
              <a:rPr lang="en-US" dirty="0" err="1"/>
              <a:t>automatizada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Limitações</a:t>
            </a:r>
            <a:r>
              <a:rPr lang="en-US" b="1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Base </a:t>
            </a:r>
            <a:r>
              <a:rPr lang="en-US" dirty="0" err="1"/>
              <a:t>simulada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Falta de </a:t>
            </a:r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variáveis</a:t>
            </a:r>
            <a:r>
              <a:rPr lang="en-US" dirty="0"/>
              <a:t> </a:t>
            </a:r>
            <a:r>
              <a:rPr lang="en-US" dirty="0" err="1"/>
              <a:t>relevantes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base de dados real,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ter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análise</a:t>
            </a:r>
            <a:r>
              <a:rPr lang="en-US" dirty="0"/>
              <a:t> da </a:t>
            </a:r>
            <a:r>
              <a:rPr lang="en-US" dirty="0" err="1"/>
              <a:t>evolução</a:t>
            </a:r>
            <a:r>
              <a:rPr lang="en-US" dirty="0"/>
              <a:t> de </a:t>
            </a:r>
            <a:r>
              <a:rPr lang="en-US" dirty="0" err="1"/>
              <a:t>turmas</a:t>
            </a:r>
            <a:r>
              <a:rPr lang="en-US" dirty="0"/>
              <a:t> e </a:t>
            </a:r>
            <a:r>
              <a:rPr lang="en-US" dirty="0" err="1"/>
              <a:t>matrículas</a:t>
            </a:r>
            <a:r>
              <a:rPr lang="en-US" dirty="0"/>
              <a:t>, e </a:t>
            </a:r>
            <a:r>
              <a:rPr lang="en-US" dirty="0" err="1"/>
              <a:t>assim</a:t>
            </a:r>
            <a:r>
              <a:rPr lang="en-US" dirty="0"/>
              <a:t> </a:t>
            </a:r>
            <a:r>
              <a:rPr lang="en-US" dirty="0" err="1"/>
              <a:t>facilitar</a:t>
            </a:r>
            <a:r>
              <a:rPr lang="en-US" dirty="0"/>
              <a:t> a </a:t>
            </a:r>
            <a:r>
              <a:rPr lang="en-US" dirty="0" err="1"/>
              <a:t>tomada</a:t>
            </a:r>
            <a:r>
              <a:rPr lang="en-US" dirty="0"/>
              <a:t> de </a:t>
            </a:r>
            <a:r>
              <a:rPr lang="en-US" dirty="0" err="1"/>
              <a:t>decisões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7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6" name="Rectangle 717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8" name="Oval 717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digital transformação do global humano mente com terra símbolo e pixel  efeito, tecnologia, inovação, artificial inteligência, e futuro conceito  gráfico. 69306666 Vetor no Vecteezy">
            <a:extLst>
              <a:ext uri="{FF2B5EF4-FFF2-40B4-BE49-F238E27FC236}">
                <a16:creationId xmlns:a16="http://schemas.microsoft.com/office/drawing/2014/main" id="{1CD30F5A-D1A1-0713-53F1-E71146975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9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90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77BD77-3E2D-12F5-F657-A320ECA6AF90}"/>
              </a:ext>
            </a:extLst>
          </p:cNvPr>
          <p:cNvSpPr txBox="1"/>
          <p:nvPr/>
        </p:nvSpPr>
        <p:spPr>
          <a:xfrm>
            <a:off x="6727821" y="2162336"/>
            <a:ext cx="4195673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tx1">
                    <a:alpha val="80000"/>
                  </a:schemeClr>
                </a:solidFill>
              </a:rPr>
              <a:t>Conclusões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análise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ajuda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entender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o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comportamento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dos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alunos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Possibilita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decisões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mais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estratégicas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tx1">
                    <a:alpha val="80000"/>
                  </a:schemeClr>
                </a:solidFill>
              </a:rPr>
              <a:t>Próximos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tx1">
                    <a:alpha val="80000"/>
                  </a:schemeClr>
                </a:solidFill>
              </a:rPr>
              <a:t>passos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Aaptar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os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dashes para bases reais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Expandir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a base de dados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Criar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modelo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preditivo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evasão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Melhorar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o dashboard</a:t>
            </a:r>
          </a:p>
        </p:txBody>
      </p:sp>
      <p:sp>
        <p:nvSpPr>
          <p:cNvPr id="718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18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50C4B2-EF32-9B08-A1CD-5550BF6F4F95}"/>
              </a:ext>
            </a:extLst>
          </p:cNvPr>
          <p:cNvSpPr txBox="1"/>
          <p:nvPr/>
        </p:nvSpPr>
        <p:spPr>
          <a:xfrm>
            <a:off x="1313440" y="6434441"/>
            <a:ext cx="9565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600" i="1">
                <a:solidFill>
                  <a:schemeClr val="bg1">
                    <a:lumMod val="65000"/>
                  </a:schemeClr>
                </a:solidFill>
              </a:rPr>
              <a:t>“Obrigado pela atenção. Este projeto demonstra como os dados podem gerar decisões mais estratégicas.”</a:t>
            </a:r>
          </a:p>
        </p:txBody>
      </p:sp>
    </p:spTree>
    <p:extLst>
      <p:ext uri="{BB962C8B-B14F-4D97-AF65-F5344CB8AC3E}">
        <p14:creationId xmlns:p14="http://schemas.microsoft.com/office/powerpoint/2010/main" val="2340493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432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Ariane Guimaraes Torres Freitas</dc:creator>
  <cp:lastModifiedBy>Ariane Guimaraes Torres Freitas</cp:lastModifiedBy>
  <cp:revision>3</cp:revision>
  <dcterms:created xsi:type="dcterms:W3CDTF">2026-04-05T14:01:22Z</dcterms:created>
  <dcterms:modified xsi:type="dcterms:W3CDTF">2026-04-05T16:43:27Z</dcterms:modified>
</cp:coreProperties>
</file>